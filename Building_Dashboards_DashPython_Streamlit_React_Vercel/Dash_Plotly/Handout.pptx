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9" r:id="rId3"/>
    <p:sldId id="318" r:id="rId4"/>
    <p:sldId id="323" r:id="rId5"/>
    <p:sldId id="322" r:id="rId6"/>
    <p:sldId id="321" r:id="rId7"/>
    <p:sldId id="320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65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22" autoAdjust="0"/>
  </p:normalViewPr>
  <p:slideViewPr>
    <p:cSldViewPr>
      <p:cViewPr varScale="1">
        <p:scale>
          <a:sx n="79" d="100"/>
          <a:sy n="79" d="100"/>
        </p:scale>
        <p:origin x="54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D218F7-B8B9-4ED6-A2A0-D0E26900CD31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FFAD8C7-0D12-4E11-8C87-4DACF788951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6FD4CA61-8F24-A410-D848-88EF6460795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06451" cy="11247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ash.plotly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DE41CEF-1F77-240C-F6D2-9586087487E3}"/>
              </a:ext>
            </a:extLst>
          </p:cNvPr>
          <p:cNvSpPr txBox="1"/>
          <p:nvPr/>
        </p:nvSpPr>
        <p:spPr>
          <a:xfrm>
            <a:off x="-96688" y="205393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AGENDA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D1AF464-24E0-E3BC-946E-81FDBFF99BED}"/>
              </a:ext>
            </a:extLst>
          </p:cNvPr>
          <p:cNvSpPr txBox="1"/>
          <p:nvPr/>
        </p:nvSpPr>
        <p:spPr>
          <a:xfrm>
            <a:off x="911425" y="2644170"/>
            <a:ext cx="10225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Construção de Interfaces Gráficas Interativas com Dash e </a:t>
            </a:r>
            <a:r>
              <a:rPr lang="pt-BR" sz="3200" dirty="0" err="1"/>
              <a:t>PlotlyJSON</a:t>
            </a:r>
            <a:r>
              <a:rPr lang="pt-BR" sz="3200" dirty="0"/>
              <a:t> - </a:t>
            </a:r>
            <a:r>
              <a:rPr lang="pt-BR" sz="3200" b="0" i="0" dirty="0" err="1">
                <a:effectLst/>
              </a:rPr>
              <a:t>JavaScript</a:t>
            </a:r>
            <a:r>
              <a:rPr lang="pt-BR" sz="3200" b="0" i="0" dirty="0">
                <a:effectLst/>
              </a:rPr>
              <a:t> </a:t>
            </a:r>
            <a:r>
              <a:rPr lang="pt-BR" sz="3200" b="0" i="0" dirty="0" err="1">
                <a:effectLst/>
              </a:rPr>
              <a:t>Object</a:t>
            </a:r>
            <a:r>
              <a:rPr lang="pt-BR" sz="3200" b="0" i="0" dirty="0">
                <a:effectLst/>
              </a:rPr>
              <a:t> </a:t>
            </a:r>
            <a:r>
              <a:rPr lang="pt-BR" sz="3200" b="0" i="0" dirty="0" err="1">
                <a:effectLst/>
              </a:rPr>
              <a:t>Notation</a:t>
            </a:r>
            <a:endParaRPr lang="pt-BR" sz="3200" b="0" i="0" dirty="0">
              <a:effectLst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B22C65A-0A96-4CFB-9856-E21E68CB7896}"/>
              </a:ext>
            </a:extLst>
          </p:cNvPr>
          <p:cNvSpPr/>
          <p:nvPr/>
        </p:nvSpPr>
        <p:spPr>
          <a:xfrm>
            <a:off x="1487488" y="4221088"/>
            <a:ext cx="95050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Ensinando a criar interfaces dinâmicas com Dash e </a:t>
            </a:r>
            <a:r>
              <a:rPr lang="pt-BR" sz="2400" dirty="0" err="1"/>
              <a:t>Plotly</a:t>
            </a:r>
            <a:r>
              <a:rPr lang="pt-BR" sz="2400" dirty="0"/>
              <a:t>, abordando layout, </a:t>
            </a:r>
            <a:r>
              <a:rPr lang="pt-BR" sz="2400" dirty="0" err="1"/>
              <a:t>callbacks</a:t>
            </a:r>
            <a:r>
              <a:rPr lang="pt-BR" sz="2400" dirty="0"/>
              <a:t>, gráficos interativos e compartilhamento de dados.</a:t>
            </a:r>
          </a:p>
        </p:txBody>
      </p:sp>
      <p:sp>
        <p:nvSpPr>
          <p:cNvPr id="4" name="Título 14">
            <a:extLst>
              <a:ext uri="{FF2B5EF4-FFF2-40B4-BE49-F238E27FC236}">
                <a16:creationId xmlns:a16="http://schemas.microsoft.com/office/drawing/2014/main" id="{B085BDBB-A1DE-0B40-2C5C-FF21C9EFD15E}"/>
              </a:ext>
            </a:extLst>
          </p:cNvPr>
          <p:cNvSpPr txBox="1">
            <a:spLocks/>
          </p:cNvSpPr>
          <p:nvPr/>
        </p:nvSpPr>
        <p:spPr>
          <a:xfrm>
            <a:off x="2495600" y="59656"/>
            <a:ext cx="7715250" cy="863947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pt-BR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Ciências de Dados</a:t>
            </a:r>
            <a:endParaRPr lang="pt-B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4">
            <a:extLst>
              <a:ext uri="{FF2B5EF4-FFF2-40B4-BE49-F238E27FC236}">
                <a16:creationId xmlns:a16="http://schemas.microsoft.com/office/drawing/2014/main" id="{37E698A5-F83C-4BC4-A5A4-1B247C886B7E}"/>
              </a:ext>
            </a:extLst>
          </p:cNvPr>
          <p:cNvSpPr txBox="1">
            <a:spLocks/>
          </p:cNvSpPr>
          <p:nvPr/>
        </p:nvSpPr>
        <p:spPr>
          <a:xfrm>
            <a:off x="2495600" y="59656"/>
            <a:ext cx="7715250" cy="863947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pt-BR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Ciências de Dados</a:t>
            </a:r>
            <a:endParaRPr lang="pt-BR" sz="32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4F60507-B33E-4119-93F4-3772131F9CF3}"/>
              </a:ext>
            </a:extLst>
          </p:cNvPr>
          <p:cNvSpPr/>
          <p:nvPr/>
        </p:nvSpPr>
        <p:spPr>
          <a:xfrm>
            <a:off x="263352" y="1412776"/>
            <a:ext cx="3909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Introdução ao Layout no Dash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01F118-8C94-4EB1-88D2-2956330DB6DF}"/>
              </a:ext>
            </a:extLst>
          </p:cNvPr>
          <p:cNvSpPr/>
          <p:nvPr/>
        </p:nvSpPr>
        <p:spPr>
          <a:xfrm>
            <a:off x="263352" y="1988840"/>
            <a:ext cx="1058065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/>
              <a:t>Dash é o framework original de baixo código para criação rápida de aplicativos de dados em Python.</a:t>
            </a:r>
          </a:p>
          <a:p>
            <a:r>
              <a:rPr lang="pt-BR" sz="2000" dirty="0">
                <a:hlinkClick r:id="rId2"/>
              </a:rPr>
              <a:t>https://dash.plotly.com/</a:t>
            </a:r>
            <a:endParaRPr lang="pt-BR" sz="2000" dirty="0"/>
          </a:p>
          <a:p>
            <a:endParaRPr lang="pt-BR" sz="2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085F09-697B-42BF-9EBD-E4BCB428B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74" y="3222240"/>
            <a:ext cx="10873208" cy="70788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sz="2000" dirty="0"/>
              <a:t>Os aplicativos Dash são compostos de duas partes. A primeira parte é o " layout", que descreve a aparência do aplicativo. A segunda parte descreve a interatividade do aplicativo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609820B-E737-4638-8F08-A9F527647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59" y="4570039"/>
            <a:ext cx="10873208" cy="40011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sz="2000" dirty="0"/>
              <a:t>O Dash utiliza componentes HTML e CSS </a:t>
            </a:r>
          </a:p>
        </p:txBody>
      </p:sp>
    </p:spTree>
    <p:extLst>
      <p:ext uri="{BB962C8B-B14F-4D97-AF65-F5344CB8AC3E}">
        <p14:creationId xmlns:p14="http://schemas.microsoft.com/office/powerpoint/2010/main" val="317175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B2008E42-FC5F-4852-A2A6-E59108072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268760"/>
            <a:ext cx="10873208" cy="40011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sz="2000" dirty="0"/>
              <a:t>Instalando e Primeiro Exemplo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A513005-1780-4AEA-9F52-79F74DBAFA10}"/>
              </a:ext>
            </a:extLst>
          </p:cNvPr>
          <p:cNvSpPr/>
          <p:nvPr/>
        </p:nvSpPr>
        <p:spPr>
          <a:xfrm>
            <a:off x="407368" y="1904244"/>
            <a:ext cx="2528256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569CD6"/>
                </a:solidFill>
                <a:latin typeface="Courier New" panose="02070309020205020404" pitchFamily="49" charset="0"/>
              </a:rPr>
              <a:t>!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pip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install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endParaRPr lang="pt-BR" b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ED6F652-A85C-4D8A-810B-29519FC9D727}"/>
              </a:ext>
            </a:extLst>
          </p:cNvPr>
          <p:cNvSpPr/>
          <p:nvPr/>
        </p:nvSpPr>
        <p:spPr>
          <a:xfrm>
            <a:off x="407368" y="2508950"/>
            <a:ext cx="6096000" cy="369331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endParaRPr lang="pt-BR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</a:t>
            </a:r>
            <a:endParaRPr lang="pt-BR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app =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dash.Dash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__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name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__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app.layout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 =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html.Div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([</a:t>
            </a:r>
            <a:endParaRPr lang="pt-BR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    html.H1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urier New" panose="02070309020205020404" pitchFamily="49" charset="0"/>
              </a:rPr>
              <a:t>"Meu Primeiro App Dash"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),</a:t>
            </a:r>
            <a:endParaRPr lang="pt-BR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html.P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urier New" panose="02070309020205020404" pitchFamily="49" charset="0"/>
              </a:rPr>
              <a:t>"Criando layout básico com Dash"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])</a:t>
            </a:r>
            <a:endParaRPr lang="pt-BR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dirty="0" err="1">
                <a:solidFill>
                  <a:srgbClr val="569CD6"/>
                </a:solidFill>
                <a:latin typeface="Courier New" panose="02070309020205020404" pitchFamily="49" charset="0"/>
              </a:rPr>
              <a:t>if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 __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name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__ == </a:t>
            </a:r>
            <a:r>
              <a:rPr lang="pt-BR" dirty="0">
                <a:solidFill>
                  <a:srgbClr val="CE9178"/>
                </a:solidFill>
                <a:latin typeface="Courier New" panose="02070309020205020404" pitchFamily="49" charset="0"/>
              </a:rPr>
              <a:t>'__</a:t>
            </a:r>
            <a:r>
              <a:rPr lang="pt-BR" dirty="0" err="1">
                <a:solidFill>
                  <a:srgbClr val="CE9178"/>
                </a:solidFill>
                <a:latin typeface="Courier New" panose="02070309020205020404" pitchFamily="49" charset="0"/>
              </a:rPr>
              <a:t>main</a:t>
            </a:r>
            <a:r>
              <a:rPr lang="pt-BR" dirty="0">
                <a:solidFill>
                  <a:srgbClr val="CE9178"/>
                </a:solidFill>
                <a:latin typeface="Courier New" panose="02070309020205020404" pitchFamily="49" charset="0"/>
              </a:rPr>
              <a:t>__'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endParaRPr lang="pt-BR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dirty="0" err="1">
                <a:solidFill>
                  <a:srgbClr val="FFFFFF"/>
                </a:solidFill>
                <a:latin typeface="Courier New" panose="02070309020205020404" pitchFamily="49" charset="0"/>
              </a:rPr>
              <a:t>app.run</a:t>
            </a:r>
            <a:r>
              <a:rPr lang="pt-BR" dirty="0">
                <a:solidFill>
                  <a:srgbClr val="FFFFFF"/>
                </a:solidFill>
                <a:latin typeface="Courier New" panose="02070309020205020404" pitchFamily="49" charset="0"/>
              </a:rPr>
              <a:t>(debug=</a:t>
            </a:r>
            <a:r>
              <a:rPr lang="pt-BR" dirty="0" err="1">
                <a:solidFill>
                  <a:srgbClr val="569CD6"/>
                </a:solidFill>
                <a:latin typeface="Courier New" panose="02070309020205020404" pitchFamily="49" charset="0"/>
              </a:rPr>
              <a:t>True</a:t>
            </a:r>
            <a:r>
              <a:rPr lang="pt-BR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b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6CC7189-B235-4190-8D59-FC1476B1F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0" y="2508950"/>
            <a:ext cx="3820058" cy="1181265"/>
          </a:xfrm>
          <a:prstGeom prst="rect">
            <a:avLst/>
          </a:prstGeom>
        </p:spPr>
      </p:pic>
      <p:sp>
        <p:nvSpPr>
          <p:cNvPr id="2" name="Título 14">
            <a:extLst>
              <a:ext uri="{FF2B5EF4-FFF2-40B4-BE49-F238E27FC236}">
                <a16:creationId xmlns:a16="http://schemas.microsoft.com/office/drawing/2014/main" id="{D62538D9-51E7-7CB7-B8AB-6BE546AA526E}"/>
              </a:ext>
            </a:extLst>
          </p:cNvPr>
          <p:cNvSpPr txBox="1">
            <a:spLocks/>
          </p:cNvSpPr>
          <p:nvPr/>
        </p:nvSpPr>
        <p:spPr>
          <a:xfrm>
            <a:off x="2495600" y="59656"/>
            <a:ext cx="7715250" cy="863947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pt-BR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Ciências de Dados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06416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73228B-A0EC-43DD-BC80-ACDF12614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22" y="948690"/>
            <a:ext cx="468160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Adicionando Componentes e Estrutura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Vamos agora apresentar o primeiro gráfico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578213-AA7F-4072-A2B6-DAE33340044C}"/>
              </a:ext>
            </a:extLst>
          </p:cNvPr>
          <p:cNvSpPr/>
          <p:nvPr/>
        </p:nvSpPr>
        <p:spPr>
          <a:xfrm>
            <a:off x="191344" y="1595021"/>
            <a:ext cx="6096000" cy="526297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dcc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app =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dash.Dash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__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name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__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app.layout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=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html.Div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([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html.H1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"Exemplo de Layout com Gráfico"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),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dcc.Graph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id=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example-graph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figure=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{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   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'data'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[{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'x'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[</a:t>
            </a:r>
            <a:r>
              <a:rPr lang="pt-BR" sz="1600" dirty="0">
                <a:solidFill>
                  <a:srgbClr val="569CD6"/>
                </a:solidFill>
                <a:latin typeface="Courier New" panose="02070309020205020404" pitchFamily="49" charset="0"/>
              </a:rPr>
              <a:t>1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569CD6"/>
                </a:solidFill>
                <a:latin typeface="Courier New" panose="02070309020205020404" pitchFamily="49" charset="0"/>
              </a:rPr>
              <a:t>2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569CD6"/>
                </a:solidFill>
                <a:latin typeface="Courier New" panose="02070309020205020404" pitchFamily="49" charset="0"/>
              </a:rPr>
              <a:t>3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],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'y'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[</a:t>
            </a:r>
            <a:r>
              <a:rPr lang="pt-BR" sz="1600" dirty="0">
                <a:solidFill>
                  <a:srgbClr val="569CD6"/>
                </a:solidFill>
                <a:latin typeface="Courier New" panose="02070309020205020404" pitchFamily="49" charset="0"/>
              </a:rPr>
              <a:t>4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569CD6"/>
                </a:solidFill>
                <a:latin typeface="Courier New" panose="02070309020205020404" pitchFamily="49" charset="0"/>
              </a:rPr>
              <a:t>1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569CD6"/>
                </a:solidFill>
                <a:latin typeface="Courier New" panose="02070309020205020404" pitchFamily="49" charset="0"/>
              </a:rPr>
              <a:t>2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],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type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'bar'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name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'SF'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}],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   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'layout'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{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title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'Gráfico Simples'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}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})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])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if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__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name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__ ==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'__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main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__'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 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app.run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debug=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True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endParaRPr lang="pt-BR" sz="1600" b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AEAD5D-73B6-4E57-8E00-085D35E1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48" y="1781861"/>
            <a:ext cx="5570534" cy="1791155"/>
          </a:xfrm>
          <a:prstGeom prst="rect">
            <a:avLst/>
          </a:prstGeom>
        </p:spPr>
      </p:pic>
      <p:sp>
        <p:nvSpPr>
          <p:cNvPr id="6" name="Título 14">
            <a:extLst>
              <a:ext uri="{FF2B5EF4-FFF2-40B4-BE49-F238E27FC236}">
                <a16:creationId xmlns:a16="http://schemas.microsoft.com/office/drawing/2014/main" id="{6961FDAB-CEDF-B98D-A6B8-C70A084AFF66}"/>
              </a:ext>
            </a:extLst>
          </p:cNvPr>
          <p:cNvSpPr txBox="1">
            <a:spLocks/>
          </p:cNvSpPr>
          <p:nvPr/>
        </p:nvSpPr>
        <p:spPr>
          <a:xfrm>
            <a:off x="2495600" y="59656"/>
            <a:ext cx="7715250" cy="863947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pt-BR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Ciências de Dados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61154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551FFB6-F052-47A6-9111-AD5920D53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467" y="4886812"/>
            <a:ext cx="5040561" cy="144016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3472930-6FFD-4A99-9BED-C34F2F0C58AD}"/>
              </a:ext>
            </a:extLst>
          </p:cNvPr>
          <p:cNvSpPr/>
          <p:nvPr/>
        </p:nvSpPr>
        <p:spPr>
          <a:xfrm>
            <a:off x="20148" y="1348800"/>
            <a:ext cx="6096000" cy="5509200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dcc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Input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Output</a:t>
            </a:r>
          </a:p>
          <a:p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app =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dash.Dash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__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name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__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app.layout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=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html.Div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([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dcc.Input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id=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'input-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text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value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=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'Escreva algo...'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type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=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text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),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html.Div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id=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'output-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text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])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>
                <a:solidFill>
                  <a:srgbClr val="569CD6"/>
                </a:solidFill>
                <a:latin typeface="Courier New" panose="02070309020205020404" pitchFamily="49" charset="0"/>
              </a:rPr>
              <a:t>@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app.callback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Output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'output-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text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children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),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Input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'input-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text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value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def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update_output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 err="1">
                <a:solidFill>
                  <a:srgbClr val="9CDCFE"/>
                </a:solidFill>
                <a:latin typeface="Courier New" panose="02070309020205020404" pitchFamily="49" charset="0"/>
              </a:rPr>
              <a:t>value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)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return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'Você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 escreveu: 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{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value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}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b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if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 __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name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__ == 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'__</a:t>
            </a:r>
            <a:r>
              <a:rPr lang="pt-BR" sz="1600" dirty="0" err="1">
                <a:solidFill>
                  <a:srgbClr val="CE9178"/>
                </a:solidFill>
                <a:latin typeface="Courier New" panose="02070309020205020404" pitchFamily="49" charset="0"/>
              </a:rPr>
              <a:t>main</a:t>
            </a:r>
            <a:r>
              <a:rPr lang="pt-BR" sz="1600" dirty="0">
                <a:solidFill>
                  <a:srgbClr val="CE9178"/>
                </a:solidFill>
                <a:latin typeface="Courier New" panose="02070309020205020404" pitchFamily="49" charset="0"/>
              </a:rPr>
              <a:t>__'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endParaRPr lang="pt-BR" sz="16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      </a:t>
            </a:r>
            <a:r>
              <a:rPr lang="pt-BR" sz="1600" dirty="0" err="1">
                <a:solidFill>
                  <a:srgbClr val="FFFFFF"/>
                </a:solidFill>
                <a:latin typeface="Courier New" panose="02070309020205020404" pitchFamily="49" charset="0"/>
              </a:rPr>
              <a:t>app.run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600" dirty="0">
                <a:solidFill>
                  <a:srgbClr val="FFFFFF"/>
                </a:solidFill>
                <a:latin typeface="Courier New" panose="02070309020205020404" pitchFamily="49" charset="0"/>
              </a:rPr>
              <a:t>debug=</a:t>
            </a:r>
            <a:r>
              <a:rPr lang="pt-BR" sz="1600" dirty="0" err="1">
                <a:solidFill>
                  <a:srgbClr val="569CD6"/>
                </a:solidFill>
                <a:latin typeface="Courier New" panose="02070309020205020404" pitchFamily="49" charset="0"/>
              </a:rPr>
              <a:t>True</a:t>
            </a:r>
            <a:r>
              <a:rPr lang="pt-BR" sz="16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600" b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CE81E6-53FA-4F30-8E62-58950BADC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51108"/>
            <a:ext cx="5688632" cy="40011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sz="2000" dirty="0"/>
              <a:t>Utilizando DASH para telas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A48B0D8-97EE-4A5D-8513-13CC59769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016" y="2470330"/>
            <a:ext cx="5688632" cy="132343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sz="2000" dirty="0"/>
              <a:t>A diretiva @</a:t>
            </a:r>
            <a:r>
              <a:rPr lang="pt-BR" altLang="pt-BR" sz="2000" dirty="0" err="1"/>
              <a:t>app.call-back</a:t>
            </a:r>
            <a:r>
              <a:rPr lang="pt-BR" altLang="pt-BR" sz="2000" dirty="0"/>
              <a:t>(</a:t>
            </a:r>
            <a:r>
              <a:rPr lang="pt-BR" altLang="pt-BR" sz="2000" dirty="0" err="1"/>
              <a:t>Output,Input</a:t>
            </a:r>
            <a:r>
              <a:rPr lang="pt-BR" altLang="pt-BR" sz="2000" dirty="0"/>
              <a:t>) é chamada a cada interação na componente id=“input-</a:t>
            </a:r>
            <a:r>
              <a:rPr lang="pt-BR" altLang="pt-BR" sz="2000" dirty="0" err="1"/>
              <a:t>text</a:t>
            </a:r>
            <a:r>
              <a:rPr lang="pt-BR" altLang="pt-BR" sz="2000" dirty="0"/>
              <a:t>” e atualiza a componente id=“output-</a:t>
            </a:r>
            <a:r>
              <a:rPr lang="pt-BR" altLang="pt-BR" sz="2000" dirty="0" err="1"/>
              <a:t>text</a:t>
            </a:r>
            <a:r>
              <a:rPr lang="pt-BR" altLang="pt-BR" sz="2000" dirty="0"/>
              <a:t>” por meio da função </a:t>
            </a:r>
            <a:r>
              <a:rPr lang="pt-BR" altLang="pt-BR" sz="2000" dirty="0" err="1"/>
              <a:t>update_output</a:t>
            </a:r>
            <a:r>
              <a:rPr lang="pt-BR" altLang="pt-BR" sz="2000" dirty="0"/>
              <a:t>(</a:t>
            </a:r>
            <a:r>
              <a:rPr lang="pt-BR" altLang="pt-BR" sz="2000" dirty="0" err="1"/>
              <a:t>value</a:t>
            </a:r>
            <a:r>
              <a:rPr lang="pt-BR" altLang="pt-BR" sz="2000" dirty="0"/>
              <a:t>)</a:t>
            </a:r>
          </a:p>
        </p:txBody>
      </p:sp>
      <p:sp>
        <p:nvSpPr>
          <p:cNvPr id="7" name="Título 14">
            <a:extLst>
              <a:ext uri="{FF2B5EF4-FFF2-40B4-BE49-F238E27FC236}">
                <a16:creationId xmlns:a16="http://schemas.microsoft.com/office/drawing/2014/main" id="{844F2E6D-82B2-C9F7-2457-3812C0DE75C1}"/>
              </a:ext>
            </a:extLst>
          </p:cNvPr>
          <p:cNvSpPr txBox="1">
            <a:spLocks/>
          </p:cNvSpPr>
          <p:nvPr/>
        </p:nvSpPr>
        <p:spPr>
          <a:xfrm>
            <a:off x="2495600" y="59656"/>
            <a:ext cx="7715250" cy="863947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pt-BR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Ciências de Dados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32770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47334F3-FD28-41D4-A801-A47E5EA686A2}"/>
              </a:ext>
            </a:extLst>
          </p:cNvPr>
          <p:cNvSpPr/>
          <p:nvPr/>
        </p:nvSpPr>
        <p:spPr>
          <a:xfrm>
            <a:off x="44711" y="1052588"/>
            <a:ext cx="7715250" cy="5909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dcc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Input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Output</a:t>
            </a:r>
          </a:p>
          <a:p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plotly.express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>
                <a:solidFill>
                  <a:srgbClr val="569CD6"/>
                </a:solidFill>
                <a:latin typeface="Courier New" panose="02070309020205020404" pitchFamily="49" charset="0"/>
              </a:rPr>
              <a:t>as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px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df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=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px.data.iris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()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 </a:t>
            </a:r>
            <a:r>
              <a:rPr lang="pt-BR" sz="1400" dirty="0">
                <a:solidFill>
                  <a:srgbClr val="608B4E"/>
                </a:solidFill>
                <a:latin typeface="Courier New" panose="02070309020205020404" pitchFamily="49" charset="0"/>
              </a:rPr>
              <a:t># </a:t>
            </a:r>
            <a:r>
              <a:rPr lang="pt-BR" sz="1400" dirty="0" err="1">
                <a:solidFill>
                  <a:srgbClr val="608B4E"/>
                </a:solidFill>
                <a:latin typeface="Courier New" panose="02070309020205020404" pitchFamily="49" charset="0"/>
              </a:rPr>
              <a:t>dataset</a:t>
            </a:r>
            <a:r>
              <a:rPr lang="pt-BR" sz="1400" dirty="0">
                <a:solidFill>
                  <a:srgbClr val="608B4E"/>
                </a:solidFill>
                <a:latin typeface="Courier New" panose="02070309020205020404" pitchFamily="49" charset="0"/>
              </a:rPr>
              <a:t> exemplo  app = </a:t>
            </a:r>
            <a:r>
              <a:rPr lang="pt-BR" sz="1400" dirty="0" err="1">
                <a:solidFill>
                  <a:srgbClr val="608B4E"/>
                </a:solidFill>
                <a:latin typeface="Courier New" panose="02070309020205020404" pitchFamily="49" charset="0"/>
              </a:rPr>
              <a:t>dash.Dash</a:t>
            </a:r>
            <a:r>
              <a:rPr lang="pt-BR" sz="1400" dirty="0">
                <a:solidFill>
                  <a:srgbClr val="608B4E"/>
                </a:solidFill>
                <a:latin typeface="Courier New" panose="02070309020205020404" pitchFamily="49" charset="0"/>
              </a:rPr>
              <a:t>(__</a:t>
            </a:r>
            <a:r>
              <a:rPr lang="pt-BR" sz="1400" dirty="0" err="1">
                <a:solidFill>
                  <a:srgbClr val="608B4E"/>
                </a:solidFill>
                <a:latin typeface="Courier New" panose="02070309020205020404" pitchFamily="49" charset="0"/>
              </a:rPr>
              <a:t>name</a:t>
            </a:r>
            <a:r>
              <a:rPr lang="pt-BR" sz="1400" dirty="0">
                <a:solidFill>
                  <a:srgbClr val="608B4E"/>
                </a:solidFill>
                <a:latin typeface="Courier New" panose="02070309020205020404" pitchFamily="49" charset="0"/>
              </a:rPr>
              <a:t>__)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app =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dash.Dash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__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name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__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b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</a:b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app.layout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=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html.Div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([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dcc.Dropdown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    id=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dropdown-species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   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options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=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[{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label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species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value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species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}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>
                <a:solidFill>
                  <a:srgbClr val="569CD6"/>
                </a:solidFill>
                <a:latin typeface="Courier New" panose="02070309020205020404" pitchFamily="49" charset="0"/>
              </a:rPr>
              <a:t>for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species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>
                <a:solidFill>
                  <a:srgbClr val="569CD6"/>
                </a:solidFill>
                <a:latin typeface="Courier New" panose="02070309020205020404" pitchFamily="49" charset="0"/>
              </a:rPr>
              <a:t>in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	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df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[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species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]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.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unique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()],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value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=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setosa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),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dcc.Graph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id=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graph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])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569CD6"/>
                </a:solidFill>
                <a:latin typeface="Courier New" panose="02070309020205020404" pitchFamily="49" charset="0"/>
              </a:rPr>
              <a:t>@</a:t>
            </a:r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app.callback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Output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graph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'figure'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),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Input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dropdown-species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value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def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update_graph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(</a:t>
            </a:r>
            <a:r>
              <a:rPr lang="pt-BR" sz="1400" dirty="0" err="1">
                <a:solidFill>
                  <a:srgbClr val="9CDCFE"/>
                </a:solidFill>
                <a:latin typeface="Courier New" panose="02070309020205020404" pitchFamily="49" charset="0"/>
              </a:rPr>
              <a:t>selected_species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)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filtered_df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=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df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[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df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[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species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]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==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selected_species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]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fig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=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px.scatter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filtered_df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x=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sepal_width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y=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sepal_length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</a:t>
            </a:r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return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fig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if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 __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name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__ == 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'__</a:t>
            </a:r>
            <a:r>
              <a:rPr lang="pt-BR" sz="1400" dirty="0" err="1">
                <a:solidFill>
                  <a:srgbClr val="CE9178"/>
                </a:solidFill>
                <a:latin typeface="Courier New" panose="02070309020205020404" pitchFamily="49" charset="0"/>
              </a:rPr>
              <a:t>main</a:t>
            </a:r>
            <a:r>
              <a:rPr lang="pt-BR" sz="1400" dirty="0">
                <a:solidFill>
                  <a:srgbClr val="CE9178"/>
                </a:solidFill>
                <a:latin typeface="Courier New" panose="02070309020205020404" pitchFamily="49" charset="0"/>
              </a:rPr>
              <a:t>__'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: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      </a:t>
            </a:r>
            <a:r>
              <a:rPr lang="pt-BR" sz="1400" dirty="0" err="1">
                <a:solidFill>
                  <a:srgbClr val="FFFFFF"/>
                </a:solidFill>
                <a:latin typeface="Courier New" panose="02070309020205020404" pitchFamily="49" charset="0"/>
              </a:rPr>
              <a:t>app.run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FFFFFF"/>
                </a:solidFill>
                <a:latin typeface="Courier New" panose="02070309020205020404" pitchFamily="49" charset="0"/>
              </a:rPr>
              <a:t>debug=</a:t>
            </a:r>
            <a:r>
              <a:rPr lang="pt-BR" sz="1400" dirty="0" err="1">
                <a:solidFill>
                  <a:srgbClr val="569CD6"/>
                </a:solidFill>
                <a:latin typeface="Courier New" panose="02070309020205020404" pitchFamily="49" charset="0"/>
              </a:rPr>
              <a:t>True</a:t>
            </a:r>
            <a:r>
              <a:rPr lang="pt-BR" sz="14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  <a:endParaRPr lang="pt-BR" sz="1400" dirty="0">
              <a:solidFill>
                <a:srgbClr val="FFFFFF"/>
              </a:solidFill>
              <a:latin typeface="Courier New" panose="02070309020205020404" pitchFamily="49" charset="0"/>
            </a:endParaRPr>
          </a:p>
          <a:p>
            <a:endParaRPr lang="pt-BR" sz="1400" b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F77D0D-D7C4-4EDB-B697-8EB2ADC6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961" y="3861048"/>
            <a:ext cx="4387328" cy="266429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98CD2F9-A0FB-43A5-B06E-AF51C9DC4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9961" y="1268760"/>
            <a:ext cx="4387328" cy="40011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sz="2000" dirty="0"/>
              <a:t>Gráfico Interativo</a:t>
            </a:r>
          </a:p>
        </p:txBody>
      </p:sp>
      <p:sp>
        <p:nvSpPr>
          <p:cNvPr id="6" name="Título 14">
            <a:extLst>
              <a:ext uri="{FF2B5EF4-FFF2-40B4-BE49-F238E27FC236}">
                <a16:creationId xmlns:a16="http://schemas.microsoft.com/office/drawing/2014/main" id="{0DFB0506-8097-69BC-3357-499E2FAD9CAF}"/>
              </a:ext>
            </a:extLst>
          </p:cNvPr>
          <p:cNvSpPr txBox="1">
            <a:spLocks/>
          </p:cNvSpPr>
          <p:nvPr/>
        </p:nvSpPr>
        <p:spPr>
          <a:xfrm>
            <a:off x="2495600" y="59656"/>
            <a:ext cx="7715250" cy="863947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pt-BR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Ciências de Dados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51785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4">
            <a:extLst>
              <a:ext uri="{FF2B5EF4-FFF2-40B4-BE49-F238E27FC236}">
                <a16:creationId xmlns:a16="http://schemas.microsoft.com/office/drawing/2014/main" id="{37E698A5-F83C-4BC4-A5A4-1B247C886B7E}"/>
              </a:ext>
            </a:extLst>
          </p:cNvPr>
          <p:cNvSpPr txBox="1">
            <a:spLocks/>
          </p:cNvSpPr>
          <p:nvPr/>
        </p:nvSpPr>
        <p:spPr>
          <a:xfrm>
            <a:off x="2711624" y="188641"/>
            <a:ext cx="7715250" cy="863947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pt-BR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Ciências de Dados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AFB63D9-9B0C-53A5-D720-3C3CD22336C4}"/>
              </a:ext>
            </a:extLst>
          </p:cNvPr>
          <p:cNvSpPr txBox="1"/>
          <p:nvPr/>
        </p:nvSpPr>
        <p:spPr>
          <a:xfrm>
            <a:off x="0" y="3033221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/>
              <a:t>OBRIGADO!!!!</a:t>
            </a:r>
          </a:p>
        </p:txBody>
      </p:sp>
    </p:spTree>
    <p:extLst>
      <p:ext uri="{BB962C8B-B14F-4D97-AF65-F5344CB8AC3E}">
        <p14:creationId xmlns:p14="http://schemas.microsoft.com/office/powerpoint/2010/main" val="876248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4660</TotalTime>
  <Words>693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FECAP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malemos</dc:creator>
  <cp:lastModifiedBy>Eduardo Savino Gomes</cp:lastModifiedBy>
  <cp:revision>113</cp:revision>
  <dcterms:created xsi:type="dcterms:W3CDTF">2014-11-04T17:49:14Z</dcterms:created>
  <dcterms:modified xsi:type="dcterms:W3CDTF">2025-04-13T15:10:08Z</dcterms:modified>
</cp:coreProperties>
</file>